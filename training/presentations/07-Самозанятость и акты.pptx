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4572000" cy="4572000"/>
          </a:xfrm>
          <a:prstGeom prst="ellipse">
            <a:avLst/>
          </a:prstGeom>
          <a:solidFill>
            <a:srgbClr val="34D39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4114800"/>
            <a:ext cx="2743200" cy="2743200"/>
          </a:xfrm>
          <a:prstGeom prst="ellipse">
            <a:avLst/>
          </a:prstGeom>
          <a:solidFill>
            <a:srgbClr val="FB7185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292608"/>
            <a:ext cx="128016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01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обучение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955280" y="20116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spc="6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КУРС ПК-МАСТЕРА · УРОК 7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5486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Самозанятость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и акты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57200" y="37490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Юридический минимум: оформиться за 10 минут, защититься актами, понимать ответственность. Без воды.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852160" y="1417320"/>
            <a:ext cx="2468880" cy="2468880"/>
          </a:xfrm>
          <a:prstGeom prst="ellipse">
            <a:avLst/>
          </a:prstGeom>
          <a:solidFill>
            <a:srgbClr val="0A1020"/>
          </a:solidFill>
          <a:ln w="25400">
            <a:solidFill>
              <a:srgbClr val="22D3EE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0" y="1828800"/>
            <a:ext cx="164592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4572000" cy="4572000"/>
          </a:xfrm>
          <a:prstGeom prst="ellipse">
            <a:avLst/>
          </a:prstGeom>
          <a:solidFill>
            <a:srgbClr val="34D39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4114800"/>
            <a:ext cx="2743200" cy="2743200"/>
          </a:xfrm>
          <a:prstGeom prst="ellipse">
            <a:avLst/>
          </a:prstGeom>
          <a:solidFill>
            <a:srgbClr val="FB7185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292608"/>
            <a:ext cx="128016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01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риски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955280" y="20116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Работать без оформления — риски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2651760" cy="2606040"/>
          </a:xfrm>
          <a:prstGeom prst="roundRect">
            <a:avLst>
              <a:gd name="adj" fmla="val 2807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71600" y="1874520"/>
            <a:ext cx="822960" cy="822960"/>
          </a:xfrm>
          <a:prstGeom prst="ellipse">
            <a:avLst/>
          </a:prstGeom>
          <a:solidFill>
            <a:srgbClr val="0A1020"/>
          </a:solidFill>
          <a:ln w="19050">
            <a:solidFill>
              <a:srgbClr val="FBBF24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965960"/>
            <a:ext cx="640080" cy="6400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48640" y="28346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Штраф 20-40%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58368" y="3310128"/>
            <a:ext cx="22494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всех полученных доходов + сам налог. Налоговая видит поступления на карту.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246120" y="1691640"/>
            <a:ext cx="2651760" cy="2606040"/>
          </a:xfrm>
          <a:prstGeom prst="roundRect">
            <a:avLst>
              <a:gd name="adj" fmla="val 2807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160520" y="1874520"/>
            <a:ext cx="822960" cy="822960"/>
          </a:xfrm>
          <a:prstGeom prst="ellipse">
            <a:avLst/>
          </a:prstGeom>
          <a:solidFill>
            <a:srgbClr val="0A1020"/>
          </a:solidFill>
          <a:ln w="19050">
            <a:solidFill>
              <a:srgbClr val="FB7185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965960"/>
            <a:ext cx="640080" cy="6400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337560" y="28346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Статья 171 УК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3447288" y="3310128"/>
            <a:ext cx="22494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Незаконное предпринимательство при обороте &gt;2,25 млн или особо крупном ущербе.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035040" y="1691640"/>
            <a:ext cx="2651760" cy="2606040"/>
          </a:xfrm>
          <a:prstGeom prst="roundRect">
            <a:avLst>
              <a:gd name="adj" fmla="val 2807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949440" y="1874520"/>
            <a:ext cx="822960" cy="822960"/>
          </a:xfrm>
          <a:prstGeom prst="ellipse">
            <a:avLst/>
          </a:prstGeom>
          <a:solidFill>
            <a:srgbClr val="0A1020"/>
          </a:solidFill>
          <a:ln w="19050">
            <a:solidFill>
              <a:srgbClr val="A855F7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1965960"/>
            <a:ext cx="640080" cy="6400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126480" y="28346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клиент → проверка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6236208" y="3310128"/>
            <a:ext cx="22494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скандальный клиент = жалоба = проверка = все доходы всплывают.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457200" y="4462272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0A1020"/>
          </a:solidFill>
          <a:ln w="19050">
            <a:solidFill>
              <a:srgbClr val="FB7185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548640" y="44622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Самозанятость занимает 10 минут. Жить дальше спокойно — бесценно. Не откладывай.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4572000" cy="4572000"/>
          </a:xfrm>
          <a:prstGeom prst="ellipse">
            <a:avLst/>
          </a:prstGeom>
          <a:solidFill>
            <a:srgbClr val="34D39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4114800"/>
            <a:ext cx="2743200" cy="2743200"/>
          </a:xfrm>
          <a:prstGeom prst="ellipse">
            <a:avLst/>
          </a:prstGeom>
          <a:solidFill>
            <a:srgbClr val="FB7185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292608"/>
            <a:ext cx="128016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01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НПД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955280" y="20116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Самозанятость — для 99% мастеров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8229600" cy="2606040"/>
          </a:xfrm>
          <a:prstGeom prst="roundRect">
            <a:avLst>
              <a:gd name="adj" fmla="val 3509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217420"/>
            <a:ext cx="1554480" cy="1554480"/>
          </a:xfrm>
          <a:prstGeom prst="ellipse">
            <a:avLst/>
          </a:prstGeom>
          <a:solidFill>
            <a:srgbClr val="0A1020"/>
          </a:solidFill>
          <a:ln w="25400">
            <a:solidFill>
              <a:srgbClr val="34D399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308860"/>
            <a:ext cx="1371600" cy="1371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651760" y="192024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НПД — Налог на профессиональный доход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2651760" y="2496312"/>
            <a:ext cx="5852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Самый простой режим для частного мастера. Без отчётности, без бухгалтера, без кассы.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Условия: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Доход до 2,4 млн в год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Без наёмных работников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Не торгуешь чужими товарами под маркой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Плюсы: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Регистрация за 10 минут через приложение «Мой налог»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Налог 4% с физлиц, 6% с юрлиц — считается автоматически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Можно совмещать с основной работой / учёбой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4462272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0A1020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44622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оборот меньше 2,4 млн в год — самозанятость это твой выбор. Без вариантов.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4572000" cy="4572000"/>
          </a:xfrm>
          <a:prstGeom prst="ellipse">
            <a:avLst/>
          </a:prstGeom>
          <a:solidFill>
            <a:srgbClr val="34D39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4114800"/>
            <a:ext cx="2743200" cy="2743200"/>
          </a:xfrm>
          <a:prstGeom prst="ellipse">
            <a:avLst/>
          </a:prstGeom>
          <a:solidFill>
            <a:srgbClr val="FB7185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292608"/>
            <a:ext cx="128016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01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оформление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955280" y="20116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Как оформить за 10 минут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384048" y="1691640"/>
            <a:ext cx="2011680" cy="2377440"/>
          </a:xfrm>
          <a:prstGeom prst="roundRect">
            <a:avLst>
              <a:gd name="adj" fmla="val 3636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1268" y="1828800"/>
            <a:ext cx="777240" cy="777240"/>
          </a:xfrm>
          <a:prstGeom prst="ellipse">
            <a:avLst/>
          </a:prstGeom>
          <a:solidFill>
            <a:srgbClr val="0A1020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1268" y="1828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2D3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75488" y="2697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Скачай приложение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3108960"/>
            <a:ext cx="16824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«Мой налог» от ФНС России. Google Play, App Store, веб-версия lknpd.nalog.ru.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05456" y="1691640"/>
            <a:ext cx="2011680" cy="2377440"/>
          </a:xfrm>
          <a:prstGeom prst="roundRect">
            <a:avLst>
              <a:gd name="adj" fmla="val 3636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22676" y="1828800"/>
            <a:ext cx="777240" cy="777240"/>
          </a:xfrm>
          <a:prstGeom prst="ellipse">
            <a:avLst/>
          </a:prstGeom>
          <a:solidFill>
            <a:srgbClr val="0A1020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22676" y="1828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4D3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2596896" y="2697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Регистрация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70048" y="3108960"/>
            <a:ext cx="16824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Через Госуслуги или паспорт + СНИЛС. СМС-подтверждение.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26864" y="1691640"/>
            <a:ext cx="2011680" cy="2377440"/>
          </a:xfrm>
          <a:prstGeom prst="roundRect">
            <a:avLst>
              <a:gd name="adj" fmla="val 3636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44084" y="1828800"/>
            <a:ext cx="777240" cy="777240"/>
          </a:xfrm>
          <a:prstGeom prst="ellipse">
            <a:avLst/>
          </a:prstGeom>
          <a:solidFill>
            <a:srgbClr val="0A1020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44084" y="1828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4718304" y="2697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 деятельности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91456" y="3108960"/>
            <a:ext cx="16824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«Информационные технологии» → «Ремонт компьютеров / IT-услуги».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748272" y="1691640"/>
            <a:ext cx="2011680" cy="2377440"/>
          </a:xfrm>
          <a:prstGeom prst="roundRect">
            <a:avLst>
              <a:gd name="adj" fmla="val 3636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65492" y="1828800"/>
            <a:ext cx="777240" cy="777240"/>
          </a:xfrm>
          <a:prstGeom prst="ellipse">
            <a:avLst/>
          </a:prstGeom>
          <a:solidFill>
            <a:srgbClr val="0A1020"/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65492" y="1828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A855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6839712" y="2697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Готово!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12864" y="3108960"/>
            <a:ext cx="16824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Можно работать. Налог считается автоматически после каждого чека.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462272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0A1020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4622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Никаких визитов в налоговую. Всё в приложении на телефоне. Реально 10 минут.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4572000" cy="4572000"/>
          </a:xfrm>
          <a:prstGeom prst="ellipse">
            <a:avLst/>
          </a:prstGeom>
          <a:solidFill>
            <a:srgbClr val="34D39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4114800"/>
            <a:ext cx="2743200" cy="2743200"/>
          </a:xfrm>
          <a:prstGeom prst="ellipse">
            <a:avLst/>
          </a:prstGeom>
          <a:solidFill>
            <a:srgbClr val="FB7185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292608"/>
            <a:ext cx="128016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01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налоги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955280" y="20116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Налоги и чеки — как считается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2651760" cy="2606040"/>
          </a:xfrm>
          <a:prstGeom prst="roundRect">
            <a:avLst>
              <a:gd name="adj" fmla="val 2807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8288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34D3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4%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548640" y="2743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физлица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8368" y="3246120"/>
            <a:ext cx="22494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Обычный клиент — частный человек. Платишь 4% с суммы чека.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46120" y="1691640"/>
            <a:ext cx="2651760" cy="2606040"/>
          </a:xfrm>
          <a:prstGeom prst="roundRect">
            <a:avLst>
              <a:gd name="adj" fmla="val 2807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18288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6%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3337560" y="2743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юрлица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447288" y="3246120"/>
            <a:ext cx="22494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работаешь с организацией (фирма, ИП) — ставка 6%.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0" y="1691640"/>
            <a:ext cx="2651760" cy="2606040"/>
          </a:xfrm>
          <a:prstGeom prst="roundRect">
            <a:avLst>
              <a:gd name="adj" fmla="val 2807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8288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22D3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10к</a:t>
            </a:r>
            <a:endParaRPr lang="en-US" sz="5600" dirty="0"/>
          </a:p>
        </p:txBody>
      </p:sp>
      <p:sp>
        <p:nvSpPr>
          <p:cNvPr id="18" name="Text 16"/>
          <p:cNvSpPr/>
          <p:nvPr/>
        </p:nvSpPr>
        <p:spPr>
          <a:xfrm>
            <a:off x="6126480" y="2743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Стартовый бонус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236208" y="3246120"/>
            <a:ext cx="22494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Каждому новому самозанятому — 10 000₽ налогового вычета. Пока не использовал — платишь меньше.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462272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0A1020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4622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Чек делаешь в приложении после оплаты. ФНС видит доход — налог считается сам.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4572000" cy="4572000"/>
          </a:xfrm>
          <a:prstGeom prst="ellipse">
            <a:avLst/>
          </a:prstGeom>
          <a:solidFill>
            <a:srgbClr val="34D39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4114800"/>
            <a:ext cx="2743200" cy="2743200"/>
          </a:xfrm>
          <a:prstGeom prst="ellipse">
            <a:avLst/>
          </a:prstGeom>
          <a:solidFill>
            <a:srgbClr val="FB7185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292608"/>
            <a:ext cx="128016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01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акт приёмки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955280" y="20116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Акт приёмки — твоя защита #1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8229600" cy="2606040"/>
          </a:xfrm>
          <a:prstGeom prst="roundRect">
            <a:avLst>
              <a:gd name="adj" fmla="val 3509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217420"/>
            <a:ext cx="1554480" cy="1554480"/>
          </a:xfrm>
          <a:prstGeom prst="ellipse">
            <a:avLst/>
          </a:prstGeom>
          <a:solidFill>
            <a:srgbClr val="0A1020"/>
          </a:solidFill>
          <a:ln w="25400">
            <a:solidFill>
              <a:srgbClr val="22D3EE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308860"/>
            <a:ext cx="1371600" cy="1371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651760" y="192024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Подписываешь ДО начала работы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2651760" y="2496312"/>
            <a:ext cx="5852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Зафиксируй состояние техники когда клиент её принёс. Тогда через 2 недели клиент не скажет «ты мне царапину поставил» или «ты мне диск убил».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должно быть в акте: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Клиент: имя и телефон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ПК: модель и серийный номер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Внешнее состояние: царапины, потёртости, дефекты экрана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Комплектность: что отдал клиент (БП, мышь, кабели)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Жалоба клиента — его словами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Подпись клиента и твоя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Дашборд Verus печатает такой акт автоматически.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4462272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0A1020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44622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акта приёмки не работаешь. Никогда. Это твоя страховка номер один.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4572000" cy="4572000"/>
          </a:xfrm>
          <a:prstGeom prst="ellipse">
            <a:avLst/>
          </a:prstGeom>
          <a:solidFill>
            <a:srgbClr val="34D39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4114800"/>
            <a:ext cx="2743200" cy="2743200"/>
          </a:xfrm>
          <a:prstGeom prst="ellipse">
            <a:avLst/>
          </a:prstGeom>
          <a:solidFill>
            <a:srgbClr val="FB7185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292608"/>
            <a:ext cx="128016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01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акт передачи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955280" y="20116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Акт передачи — твоя защита #2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8229600" cy="2606040"/>
          </a:xfrm>
          <a:prstGeom prst="roundRect">
            <a:avLst>
              <a:gd name="adj" fmla="val 3509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217420"/>
            <a:ext cx="1554480" cy="1554480"/>
          </a:xfrm>
          <a:prstGeom prst="ellipse">
            <a:avLst/>
          </a:prstGeom>
          <a:solidFill>
            <a:srgbClr val="0A1020"/>
          </a:solidFill>
          <a:ln w="25400">
            <a:solidFill>
              <a:srgbClr val="34D399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308860"/>
            <a:ext cx="1371600" cy="1371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651760" y="192024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Подписываешь после работы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2651760" y="2496312"/>
            <a:ext cx="5852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 вернул ПК клиенту — клиент подтверждает что принял рабочий. Через месяц он не сможет сказать «я сразу заметил что не работает».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должно быть в акте: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Что сделано: список конкретных работ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Что НЕ трогал: документы, фото, переписки, пароли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Под риском / рекомендуется: что увидел но не починил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Гарантия: обычно 14 дней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Подпись клиента «принял рабочий»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Дашборд Verus также печатает автоматически.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4462272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0A1020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44622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Дашборд Verus — твой партнёр. Заполнил формы → распечатал → подписали. 5 минут.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4572000" cy="4572000"/>
          </a:xfrm>
          <a:prstGeom prst="ellipse">
            <a:avLst/>
          </a:prstGeom>
          <a:solidFill>
            <a:srgbClr val="34D39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4114800"/>
            <a:ext cx="2743200" cy="2743200"/>
          </a:xfrm>
          <a:prstGeom prst="ellipse">
            <a:avLst/>
          </a:prstGeom>
          <a:solidFill>
            <a:srgbClr val="FB7185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292608"/>
            <a:ext cx="128016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01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ПДн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955280" y="20116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Личные данные клиента — что можно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2651760" cy="2606040"/>
          </a:xfrm>
          <a:prstGeom prst="roundRect">
            <a:avLst>
              <a:gd name="adj" fmla="val 2807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71600" y="1874520"/>
            <a:ext cx="822960" cy="822960"/>
          </a:xfrm>
          <a:prstGeom prst="ellipse">
            <a:avLst/>
          </a:prstGeom>
          <a:solidFill>
            <a:srgbClr val="0A1020"/>
          </a:solidFill>
          <a:ln w="19050">
            <a:solidFill>
              <a:srgbClr val="34D399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965960"/>
            <a:ext cx="640080" cy="6400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48640" y="2834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Можно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58368" y="3246120"/>
            <a:ext cx="22494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Видеть железо и систему. Хранить ПК у себя для ремонта (по акту приёмки). CRM-историю визитов.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246120" y="1691640"/>
            <a:ext cx="2651760" cy="2606040"/>
          </a:xfrm>
          <a:prstGeom prst="roundRect">
            <a:avLst>
              <a:gd name="adj" fmla="val 2807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160520" y="1874520"/>
            <a:ext cx="822960" cy="822960"/>
          </a:xfrm>
          <a:prstGeom prst="ellipse">
            <a:avLst/>
          </a:prstGeom>
          <a:solidFill>
            <a:srgbClr val="0A1020"/>
          </a:solidFill>
          <a:ln w="19050">
            <a:solidFill>
              <a:srgbClr val="FBBF24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965960"/>
            <a:ext cx="640080" cy="6400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337560" y="2834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согласия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3447288" y="3246120"/>
            <a:ext cx="22494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Делать бэкап данных клиента. Открывать конкретный файл «вот этот не открывается».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035040" y="1691640"/>
            <a:ext cx="2651760" cy="2606040"/>
          </a:xfrm>
          <a:prstGeom prst="roundRect">
            <a:avLst>
              <a:gd name="adj" fmla="val 2807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949440" y="1874520"/>
            <a:ext cx="822960" cy="822960"/>
          </a:xfrm>
          <a:prstGeom prst="ellipse">
            <a:avLst/>
          </a:prstGeom>
          <a:solidFill>
            <a:srgbClr val="0A1020"/>
          </a:solidFill>
          <a:ln w="19050">
            <a:solidFill>
              <a:srgbClr val="FB7185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1965960"/>
            <a:ext cx="640080" cy="6400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126480" y="2834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Нельзя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6236208" y="3246120"/>
            <a:ext cx="22494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Копировать данные себе без разрешения. Открывать переписки и фото. Хранить копии после возврата ПК.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457200" y="4462272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0A1020"/>
          </a:solidFill>
          <a:ln w="19050">
            <a:solidFill>
              <a:srgbClr val="FB7185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548640" y="44622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случай слитой переписки клиента — и твоя репутация в районе мертва. Уважай личное.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4572000" cy="4572000"/>
          </a:xfrm>
          <a:prstGeom prst="ellipse">
            <a:avLst/>
          </a:prstGeom>
          <a:solidFill>
            <a:srgbClr val="34D39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4114800"/>
            <a:ext cx="2743200" cy="2743200"/>
          </a:xfrm>
          <a:prstGeom prst="ellipse">
            <a:avLst/>
          </a:prstGeom>
          <a:solidFill>
            <a:srgbClr val="FB7185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292608"/>
            <a:ext cx="128016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01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жалобы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955280" y="20116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Если клиент жалуется — что делать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8229600" cy="2606040"/>
          </a:xfrm>
          <a:prstGeom prst="roundRect">
            <a:avLst>
              <a:gd name="adj" fmla="val 3509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217420"/>
            <a:ext cx="1554480" cy="1554480"/>
          </a:xfrm>
          <a:prstGeom prst="ellipse">
            <a:avLst/>
          </a:prstGeom>
          <a:solidFill>
            <a:srgbClr val="0A1020"/>
          </a:solidFill>
          <a:ln w="25400">
            <a:solidFill>
              <a:srgbClr val="FBBF24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308860"/>
            <a:ext cx="1371600" cy="1371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651760" y="192024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Спокойствие + документы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2651760" y="2496312"/>
            <a:ext cx="5852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клиент жалуется в Роспотребнадзор или подаёт в суд — не паникуй. Жалоба не равно «виновен».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делаешь: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Собери документы — акты приёмки и передачи, чек, журнал работы (Verus всё сохраняет сам)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Ответь Роспотребнадзору в срок (30 дней), приложи документы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В суде — пиши факты без эмоций, опирайся на подписанные акты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4462272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0A1020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44622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актов ты беззащитен. С полным комплектом — юридически защищён в 99% потребительских споров.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4572000" cy="4572000"/>
          </a:xfrm>
          <a:prstGeom prst="ellipse">
            <a:avLst/>
          </a:prstGeom>
          <a:solidFill>
            <a:srgbClr val="34D39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4114800"/>
            <a:ext cx="2743200" cy="2743200"/>
          </a:xfrm>
          <a:prstGeom prst="ellipse">
            <a:avLst/>
          </a:prstGeom>
          <a:solidFill>
            <a:srgbClr val="FB7185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292608"/>
            <a:ext cx="128016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01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итог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955280" y="20116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Чеклист готовности — 5 пунктов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8229600" cy="411480"/>
          </a:xfrm>
          <a:prstGeom prst="roundRect">
            <a:avLst>
              <a:gd name="adj" fmla="val 13333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1828800"/>
            <a:ext cx="320040" cy="320040"/>
          </a:xfrm>
          <a:prstGeom prst="ellipse">
            <a:avLst/>
          </a:prstGeom>
          <a:solidFill>
            <a:srgbClr val="0A1020"/>
          </a:solidFill>
          <a:ln w="19050">
            <a:solidFill>
              <a:srgbClr val="34D399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1865376"/>
            <a:ext cx="246888" cy="24688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51560" y="178308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Самозанятость оформлена в «Мой налог»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7200" y="2286000"/>
            <a:ext cx="8229600" cy="411480"/>
          </a:xfrm>
          <a:prstGeom prst="roundRect">
            <a:avLst>
              <a:gd name="adj" fmla="val 13333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94360" y="2331720"/>
            <a:ext cx="320040" cy="320040"/>
          </a:xfrm>
          <a:prstGeom prst="ellipse">
            <a:avLst/>
          </a:prstGeom>
          <a:solidFill>
            <a:srgbClr val="0A1020"/>
          </a:solidFill>
          <a:ln w="19050">
            <a:solidFill>
              <a:srgbClr val="34D399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2368296"/>
            <a:ext cx="246888" cy="24688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51560" y="228600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Дашборд Verus печатает акты приёмки и передачи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457200" y="2788920"/>
            <a:ext cx="8229600" cy="411480"/>
          </a:xfrm>
          <a:prstGeom prst="roundRect">
            <a:avLst>
              <a:gd name="adj" fmla="val 13333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94360" y="2834640"/>
            <a:ext cx="320040" cy="320040"/>
          </a:xfrm>
          <a:prstGeom prst="ellipse">
            <a:avLst/>
          </a:prstGeom>
          <a:solidFill>
            <a:srgbClr val="0A1020"/>
          </a:solidFill>
          <a:ln w="19050">
            <a:solidFill>
              <a:srgbClr val="34D399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2871216"/>
            <a:ext cx="246888" cy="24688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51560" y="278892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Чеки выставляешь после каждой работы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457200" y="3291840"/>
            <a:ext cx="8229600" cy="411480"/>
          </a:xfrm>
          <a:prstGeom prst="roundRect">
            <a:avLst>
              <a:gd name="adj" fmla="val 13333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94360" y="3337560"/>
            <a:ext cx="320040" cy="320040"/>
          </a:xfrm>
          <a:prstGeom prst="ellipse">
            <a:avLst/>
          </a:prstGeom>
          <a:solidFill>
            <a:srgbClr val="0A1020"/>
          </a:solidFill>
          <a:ln w="19050">
            <a:solidFill>
              <a:srgbClr val="34D399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" y="3374136"/>
            <a:ext cx="246888" cy="24688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51560" y="329184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Понимаешь что можно и что нельзя с данными клиента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457200" y="3794760"/>
            <a:ext cx="8229600" cy="411480"/>
          </a:xfrm>
          <a:prstGeom prst="roundRect">
            <a:avLst>
              <a:gd name="adj" fmla="val 13333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594360" y="3840480"/>
            <a:ext cx="320040" cy="320040"/>
          </a:xfrm>
          <a:prstGeom prst="ellipse">
            <a:avLst/>
          </a:prstGeom>
          <a:solidFill>
            <a:srgbClr val="0A1020"/>
          </a:solidFill>
          <a:ln w="19050">
            <a:solidFill>
              <a:srgbClr val="34D399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" y="3877056"/>
            <a:ext cx="246888" cy="24688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051560" y="379476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Знаешь алгоритм действий если придёт жалоба</a:t>
            </a:r>
            <a:endParaRPr lang="en-US" sz="1400" dirty="0"/>
          </a:p>
        </p:txBody>
      </p:sp>
      <p:sp>
        <p:nvSpPr>
          <p:cNvPr id="28" name="Shape 21"/>
          <p:cNvSpPr/>
          <p:nvPr/>
        </p:nvSpPr>
        <p:spPr>
          <a:xfrm>
            <a:off x="457200" y="4462272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0A1020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548640" y="44622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пять галочек = готов к платной работе. Хоть завтра принимай первого клиента.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Самозанятость, акты, ответственность</dc:title>
  <dc:subject>Юридический минимум для мастера</dc:subject>
  <dc:creator>Verus</dc:creator>
  <cp:lastModifiedBy>Verus</cp:lastModifiedBy>
  <cp:revision>1</cp:revision>
  <dcterms:created xsi:type="dcterms:W3CDTF">2026-05-31T07:26:36Z</dcterms:created>
  <dcterms:modified xsi:type="dcterms:W3CDTF">2026-05-31T07:26:36Z</dcterms:modified>
</cp:coreProperties>
</file>